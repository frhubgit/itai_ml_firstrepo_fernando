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Light" charset="1" panose="00000400000000000000"/>
      <p:regular r:id="rId14"/>
    </p:embeddedFont>
    <p:embeddedFont>
      <p:font typeface="Roboto" charset="1" panose="02000000000000000000"/>
      <p:regular r:id="rId15"/>
    </p:embeddedFont>
    <p:embeddedFont>
      <p:font typeface="Roboto Bold" charset="1" panose="02000000000000000000"/>
      <p:regular r:id="rId16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ithub.com/frhubgit/Fernando-Reyes-AI-Portfolio" TargetMode="External" Type="http://schemas.openxmlformats.org/officeDocument/2006/relationships/hyperlink"/><Relationship Id="rId4" Target="https://github.com/frhubgit/Fernando-Reyes-AI-Portfolio" TargetMode="External" Type="http://schemas.openxmlformats.org/officeDocument/2006/relationships/hyperlink"/><Relationship Id="rId5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https://www.linkedin.com/in/fernando-reyes-488855398/" TargetMode="External" Type="http://schemas.openxmlformats.org/officeDocument/2006/relationships/hyperlink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24531"/>
            <a:ext cx="13849796" cy="97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Fernando Reyes: Emerging AI Enthusiast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26182"/>
            <a:ext cx="1630352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Hello! I'm Fernando Reyes, a passionate first-semester college student deeply immersed in the world of Artificial Intelligence. My journey began in high school, and I'm excited to continue exploring this dynamic field.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7439" y="3971316"/>
            <a:ext cx="1587832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Discover my AI projects and assignments on my </a:t>
            </a:r>
            <a:r>
              <a:rPr lang="en-US" sz="2187" u="sng">
                <a:solidFill>
                  <a:srgbClr val="F2F2F3"/>
                </a:solidFill>
                <a:latin typeface="Roboto"/>
                <a:ea typeface="Roboto"/>
                <a:cs typeface="Roboto"/>
                <a:sym typeface="Roboto"/>
                <a:hlinkClick r:id="rId3" tooltip="https://github.com/frhubgit/Fernando-Reyes-AI-Portfolio"/>
              </a:rPr>
              <a:t>GitHub Portfolio</a:t>
            </a:r>
            <a:r>
              <a:rPr lang="en-US" sz="2187" u="sng">
                <a:solidFill>
                  <a:srgbClr val="0563C1"/>
                </a:solidFill>
                <a:latin typeface="Roboto"/>
                <a:ea typeface="Roboto"/>
                <a:cs typeface="Roboto"/>
                <a:sym typeface="Roboto"/>
                <a:hlinkClick r:id="rId4" tooltip="https://github.com/frhubgit/Fernando-Reyes-AI-Portfolio"/>
              </a:rPr>
              <a:t>.</a:t>
            </a:r>
          </a:p>
          <a:p>
            <a:pPr algn="l">
              <a:lnSpc>
                <a:spcPts val="3562"/>
              </a:lnSpc>
            </a:pPr>
          </a:p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https://github.com/frhubgit/Fernando-Reyes-AI-Portfolio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747628"/>
            <a:ext cx="38100" cy="1091505"/>
            <a:chOff x="0" y="0"/>
            <a:chExt cx="50800" cy="14553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1455293"/>
            </a:xfrm>
            <a:custGeom>
              <a:avLst/>
              <a:gdLst/>
              <a:ahLst/>
              <a:cxnLst/>
              <a:rect r="r" b="b" t="t" l="l"/>
              <a:pathLst>
                <a:path h="1455293" w="50800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17549" y="6258621"/>
            <a:ext cx="16308659" cy="3429001"/>
            <a:chOff x="0" y="0"/>
            <a:chExt cx="21744878" cy="4572002"/>
          </a:xfrm>
        </p:grpSpPr>
        <p:sp>
          <p:nvSpPr>
            <p:cNvPr name="Freeform 12" id="12" descr="What Is Artificial Intelligence (AI)? | IBM"/>
            <p:cNvSpPr/>
            <p:nvPr/>
          </p:nvSpPr>
          <p:spPr>
            <a:xfrm flipH="false" flipV="false" rot="0">
              <a:off x="0" y="0"/>
              <a:ext cx="21744939" cy="4572000"/>
            </a:xfrm>
            <a:custGeom>
              <a:avLst/>
              <a:gdLst/>
              <a:ahLst/>
              <a:cxnLst/>
              <a:rect r="r" b="b" t="t" l="l"/>
              <a:pathLst>
                <a:path h="4572000" w="21744939">
                  <a:moveTo>
                    <a:pt x="0" y="0"/>
                  </a:moveTo>
                  <a:lnTo>
                    <a:pt x="21744939" y="0"/>
                  </a:lnTo>
                  <a:lnTo>
                    <a:pt x="21744939" y="4572000"/>
                  </a:lnTo>
                  <a:lnTo>
                    <a:pt x="0" y="457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8902" r="0" b="-6890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89099" y="576560"/>
            <a:ext cx="12190810" cy="9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499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Foundational Learning Journey in AI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9712" y="2002036"/>
            <a:ext cx="28575" cy="7584579"/>
            <a:chOff x="0" y="0"/>
            <a:chExt cx="38100" cy="101127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10112756"/>
            </a:xfrm>
            <a:custGeom>
              <a:avLst/>
              <a:gdLst/>
              <a:ahLst/>
              <a:cxnLst/>
              <a:rect r="r" b="b" t="t" l="l"/>
              <a:pathLst>
                <a:path h="1011275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93706"/>
                  </a:lnTo>
                  <a:cubicBezTo>
                    <a:pt x="38100" y="10104248"/>
                    <a:pt x="29591" y="10112756"/>
                    <a:pt x="19050" y="10112756"/>
                  </a:cubicBezTo>
                  <a:cubicBezTo>
                    <a:pt x="8509" y="10112756"/>
                    <a:pt x="0" y="10104248"/>
                    <a:pt x="0" y="10093706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664625" y="2273499"/>
            <a:ext cx="507950" cy="28575"/>
            <a:chOff x="0" y="0"/>
            <a:chExt cx="677267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291" cy="38100"/>
            </a:xfrm>
            <a:custGeom>
              <a:avLst/>
              <a:gdLst/>
              <a:ahLst/>
              <a:cxnLst/>
              <a:rect r="r" b="b" t="t" l="l"/>
              <a:pathLst>
                <a:path h="38100" w="67729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8241" y="0"/>
                  </a:lnTo>
                  <a:cubicBezTo>
                    <a:pt x="668782" y="0"/>
                    <a:pt x="677291" y="8509"/>
                    <a:pt x="677291" y="19050"/>
                  </a:cubicBezTo>
                  <a:cubicBezTo>
                    <a:pt x="677291" y="29591"/>
                    <a:pt x="668782" y="38100"/>
                    <a:pt x="6582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0" y="2192536"/>
            <a:ext cx="190500" cy="190500"/>
            <a:chOff x="0" y="0"/>
            <a:chExt cx="254000" cy="25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4952405" y="2051149"/>
            <a:ext cx="3175546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Poppins Bold"/>
                <a:ea typeface="Poppins Bold"/>
                <a:cs typeface="Poppins Bold"/>
                <a:sym typeface="Poppins Bold"/>
              </a:rPr>
              <a:t>High School Spark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9099" y="2552849"/>
            <a:ext cx="7238851" cy="8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My fascination with AI ignited during my high school years, driving me to pursue further education in this field.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115425" y="3797499"/>
            <a:ext cx="507950" cy="28575"/>
            <a:chOff x="0" y="0"/>
            <a:chExt cx="677267" cy="38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7291" cy="38100"/>
            </a:xfrm>
            <a:custGeom>
              <a:avLst/>
              <a:gdLst/>
              <a:ahLst/>
              <a:cxnLst/>
              <a:rect r="r" b="b" t="t" l="l"/>
              <a:pathLst>
                <a:path h="38100" w="67729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8241" y="0"/>
                  </a:lnTo>
                  <a:cubicBezTo>
                    <a:pt x="668782" y="0"/>
                    <a:pt x="677291" y="8509"/>
                    <a:pt x="677291" y="19050"/>
                  </a:cubicBezTo>
                  <a:cubicBezTo>
                    <a:pt x="677291" y="29591"/>
                    <a:pt x="668782" y="38100"/>
                    <a:pt x="6582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048750" y="3716536"/>
            <a:ext cx="190500" cy="190500"/>
            <a:chOff x="0" y="0"/>
            <a:chExt cx="254000" cy="25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160050" y="3546574"/>
            <a:ext cx="3980557" cy="4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49" b="true">
                <a:solidFill>
                  <a:srgbClr val="E5E0DF"/>
                </a:solidFill>
                <a:latin typeface="Poppins Bold"/>
                <a:ea typeface="Poppins Bold"/>
                <a:cs typeface="Poppins Bold"/>
                <a:sym typeface="Poppins Bold"/>
              </a:rPr>
              <a:t>Intro to Machine Learning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0050" y="4076849"/>
            <a:ext cx="7238851" cy="8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Gained foundational knowledge in ML concepts, algorithms, and applications.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664625" y="5111204"/>
            <a:ext cx="507950" cy="28575"/>
            <a:chOff x="0" y="0"/>
            <a:chExt cx="677267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7291" cy="38100"/>
            </a:xfrm>
            <a:custGeom>
              <a:avLst/>
              <a:gdLst/>
              <a:ahLst/>
              <a:cxnLst/>
              <a:rect r="r" b="b" t="t" l="l"/>
              <a:pathLst>
                <a:path h="38100" w="67729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8241" y="0"/>
                  </a:lnTo>
                  <a:cubicBezTo>
                    <a:pt x="668782" y="0"/>
                    <a:pt x="677291" y="8509"/>
                    <a:pt x="677291" y="19050"/>
                  </a:cubicBezTo>
                  <a:cubicBezTo>
                    <a:pt x="677291" y="29591"/>
                    <a:pt x="668782" y="38100"/>
                    <a:pt x="6582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048750" y="5030241"/>
            <a:ext cx="190500" cy="190500"/>
            <a:chOff x="0" y="0"/>
            <a:chExt cx="254000" cy="25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4470796" y="4860280"/>
            <a:ext cx="3657154" cy="4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249" b="true">
                <a:solidFill>
                  <a:srgbClr val="E5E0D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Coding (Basics)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9099" y="5390555"/>
            <a:ext cx="7238851" cy="8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Developed essential programming skills in Python, the cornerstone for AI development.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15425" y="6424910"/>
            <a:ext cx="507950" cy="28575"/>
            <a:chOff x="0" y="0"/>
            <a:chExt cx="677267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7291" cy="38100"/>
            </a:xfrm>
            <a:custGeom>
              <a:avLst/>
              <a:gdLst/>
              <a:ahLst/>
              <a:cxnLst/>
              <a:rect r="r" b="b" t="t" l="l"/>
              <a:pathLst>
                <a:path h="38100" w="67729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8241" y="0"/>
                  </a:lnTo>
                  <a:cubicBezTo>
                    <a:pt x="668782" y="0"/>
                    <a:pt x="677291" y="8509"/>
                    <a:pt x="677291" y="19050"/>
                  </a:cubicBezTo>
                  <a:cubicBezTo>
                    <a:pt x="677291" y="29591"/>
                    <a:pt x="668782" y="38100"/>
                    <a:pt x="6582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048750" y="6343947"/>
            <a:ext cx="190500" cy="190500"/>
            <a:chOff x="0" y="0"/>
            <a:chExt cx="254000" cy="25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160050" y="6173986"/>
            <a:ext cx="4169420" cy="4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249" b="true">
                <a:solidFill>
                  <a:srgbClr val="E5E0D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Theory &amp; Design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60050" y="6704260"/>
            <a:ext cx="7238851" cy="8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Understood data structures and management, crucial for robust AI systems.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664625" y="7738616"/>
            <a:ext cx="507950" cy="28575"/>
            <a:chOff x="0" y="0"/>
            <a:chExt cx="677267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7291" cy="38100"/>
            </a:xfrm>
            <a:custGeom>
              <a:avLst/>
              <a:gdLst/>
              <a:ahLst/>
              <a:cxnLst/>
              <a:rect r="r" b="b" t="t" l="l"/>
              <a:pathLst>
                <a:path h="38100" w="67729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58241" y="0"/>
                  </a:lnTo>
                  <a:cubicBezTo>
                    <a:pt x="668782" y="0"/>
                    <a:pt x="677291" y="8509"/>
                    <a:pt x="677291" y="19050"/>
                  </a:cubicBezTo>
                  <a:cubicBezTo>
                    <a:pt x="677291" y="29591"/>
                    <a:pt x="668782" y="38100"/>
                    <a:pt x="65824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6565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048750" y="7657654"/>
            <a:ext cx="190500" cy="190500"/>
            <a:chOff x="0" y="0"/>
            <a:chExt cx="254000" cy="25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4952405" y="7516266"/>
            <a:ext cx="3175546" cy="4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4"/>
              </a:lnSpc>
            </a:pPr>
            <a:r>
              <a:rPr lang="en-US" sz="2499" b="true">
                <a:solidFill>
                  <a:srgbClr val="E5E0DF"/>
                </a:solidFill>
                <a:latin typeface="Poppins Bold"/>
                <a:ea typeface="Poppins Bold"/>
                <a:cs typeface="Poppins Bold"/>
                <a:sym typeface="Poppins Bold"/>
              </a:rPr>
              <a:t>History of 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89099" y="8017966"/>
            <a:ext cx="7238851" cy="89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87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Explored the evolution of AI, its milestones, and ethical considerations.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28001"/>
            <a:ext cx="10987385" cy="97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0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Lab Assignments &amp; Coursework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21098"/>
            <a:ext cx="16303526" cy="96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9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During my first semester, I've completed several lab assignments that have helped me apply classroom concepts in practical ways. These assignments represent my early learning in AI and programming.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374871"/>
            <a:ext cx="4480172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Preparing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201394"/>
            <a:ext cx="5198269" cy="232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9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An iypnb based on preparing data for machine learning, teaches ne how to clean, transform, and engineer features to create high-quality datasets that lead to better model performance.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4374871"/>
            <a:ext cx="4721424" cy="4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Database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4866" y="5201394"/>
            <a:ext cx="5198269" cy="277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9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coursework assignment where I designed a database for a fictional application. This helped me understand database normalization, relationships, and practical schema design.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7494" y="4355821"/>
            <a:ext cx="4364385" cy="50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499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AI Roleplay Scenario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7494" y="5201394"/>
            <a:ext cx="5198269" cy="232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99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 group-based project assignment where we were tasked to go through the process of designing and implementing an A.I. with fictional roles and what roles are purpose served towards the goal.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12911" y="642045"/>
            <a:ext cx="10875764" cy="89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4999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Building a Foundation in AI &amp; Tech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2911" y="1959620"/>
            <a:ext cx="16462176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My early coursework has equipped me with essential technical and conceptual skills vital for a career in AI.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2911" y="2988171"/>
            <a:ext cx="3661619" cy="44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Technical Proficiencies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2911" y="3599260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Python Programming (fundamentals)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2911" y="4107805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SQL &amp; Database 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2911" y="4616351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Machine Learning Basics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2911" y="5124896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Data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1720" y="2988171"/>
            <a:ext cx="3632001" cy="44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499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Core AI Competencies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1720" y="3599260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Algorithmic Thinking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1720" y="4107805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Data Interpretation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1720" y="4616351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Problem Solving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1720" y="5124896"/>
            <a:ext cx="7912894" cy="51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Understanding AI Ethics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922436" y="6190655"/>
            <a:ext cx="5341888" cy="3129855"/>
            <a:chOff x="0" y="0"/>
            <a:chExt cx="7122517" cy="417314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122541" cy="4173093"/>
            </a:xfrm>
            <a:custGeom>
              <a:avLst/>
              <a:gdLst/>
              <a:ahLst/>
              <a:cxnLst/>
              <a:rect r="r" b="b" t="t" l="l"/>
              <a:pathLst>
                <a:path h="4173093" w="7122541">
                  <a:moveTo>
                    <a:pt x="0" y="0"/>
                  </a:moveTo>
                  <a:lnTo>
                    <a:pt x="7122541" y="0"/>
                  </a:lnTo>
                  <a:lnTo>
                    <a:pt x="7122541" y="4173093"/>
                  </a:lnTo>
                  <a:lnTo>
                    <a:pt x="0" y="417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6" r="0" b="-47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6472981" y="6190655"/>
            <a:ext cx="5341887" cy="3129855"/>
            <a:chOff x="0" y="0"/>
            <a:chExt cx="7122517" cy="417314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122541" cy="4173093"/>
            </a:xfrm>
            <a:custGeom>
              <a:avLst/>
              <a:gdLst/>
              <a:ahLst/>
              <a:cxnLst/>
              <a:rect r="r" b="b" t="t" l="l"/>
              <a:pathLst>
                <a:path h="4173093" w="7122541">
                  <a:moveTo>
                    <a:pt x="0" y="0"/>
                  </a:moveTo>
                  <a:lnTo>
                    <a:pt x="7122541" y="0"/>
                  </a:lnTo>
                  <a:lnTo>
                    <a:pt x="7122541" y="4173093"/>
                  </a:lnTo>
                  <a:lnTo>
                    <a:pt x="0" y="417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" r="0" b="-47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2023526" y="6190655"/>
            <a:ext cx="5341887" cy="3129855"/>
            <a:chOff x="0" y="0"/>
            <a:chExt cx="7122517" cy="417314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7122541" cy="4173093"/>
            </a:xfrm>
            <a:custGeom>
              <a:avLst/>
              <a:gdLst/>
              <a:ahLst/>
              <a:cxnLst/>
              <a:rect r="r" b="b" t="t" l="l"/>
              <a:pathLst>
                <a:path h="4173093" w="7122541">
                  <a:moveTo>
                    <a:pt x="0" y="0"/>
                  </a:moveTo>
                  <a:lnTo>
                    <a:pt x="7122541" y="0"/>
                  </a:lnTo>
                  <a:lnTo>
                    <a:pt x="7122541" y="4173093"/>
                  </a:lnTo>
                  <a:lnTo>
                    <a:pt x="0" y="417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6" r="0" b="-4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9191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73758" y="531316"/>
            <a:ext cx="8779222" cy="79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000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Future Aspirations &amp; Connection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7696" y="1582341"/>
            <a:ext cx="17019265" cy="7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My initial college experience has solidified my passion for AI, and I am eager to continue my growth and contribute to innovative projects.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73758" y="2946052"/>
            <a:ext cx="4830664" cy="1987451"/>
            <a:chOff x="0" y="0"/>
            <a:chExt cx="6440885" cy="26499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40932" cy="2649982"/>
            </a:xfrm>
            <a:custGeom>
              <a:avLst/>
              <a:gdLst/>
              <a:ahLst/>
              <a:cxnLst/>
              <a:rect r="r" b="b" t="t" l="l"/>
              <a:pathLst>
                <a:path h="2649982" w="644093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58052" y="0"/>
                  </a:lnTo>
                  <a:cubicBezTo>
                    <a:pt x="6359017" y="0"/>
                    <a:pt x="6440932" y="81915"/>
                    <a:pt x="6440932" y="182880"/>
                  </a:cubicBezTo>
                  <a:lnTo>
                    <a:pt x="6440932" y="2467102"/>
                  </a:lnTo>
                  <a:cubicBezTo>
                    <a:pt x="6440932" y="2568067"/>
                    <a:pt x="6359017" y="2649982"/>
                    <a:pt x="6258052" y="2649982"/>
                  </a:cubicBezTo>
                  <a:lnTo>
                    <a:pt x="182880" y="2649982"/>
                  </a:lnTo>
                  <a:cubicBezTo>
                    <a:pt x="81915" y="2649982"/>
                    <a:pt x="0" y="2568067"/>
                    <a:pt x="0" y="2467102"/>
                  </a:cubicBez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73758" y="2917478"/>
            <a:ext cx="4830664" cy="114300"/>
            <a:chOff x="0" y="0"/>
            <a:chExt cx="6440885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40932" cy="152400"/>
            </a:xfrm>
            <a:custGeom>
              <a:avLst/>
              <a:gdLst/>
              <a:ahLst/>
              <a:cxnLst/>
              <a:rect r="r" b="b" t="t" l="l"/>
              <a:pathLst>
                <a:path h="152400" w="6440932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364732" y="0"/>
                  </a:lnTo>
                  <a:cubicBezTo>
                    <a:pt x="6406769" y="0"/>
                    <a:pt x="6440932" y="34163"/>
                    <a:pt x="6440932" y="76200"/>
                  </a:cubicBezTo>
                  <a:cubicBezTo>
                    <a:pt x="6440932" y="118237"/>
                    <a:pt x="6406769" y="152400"/>
                    <a:pt x="6364732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857500" y="2614464"/>
            <a:ext cx="663179" cy="663179"/>
            <a:chOff x="0" y="0"/>
            <a:chExt cx="884238" cy="8842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4301" cy="884301"/>
            </a:xfrm>
            <a:custGeom>
              <a:avLst/>
              <a:gdLst/>
              <a:ahLst/>
              <a:cxnLst/>
              <a:rect r="r" b="b" t="t" l="l"/>
              <a:pathLst>
                <a:path h="884301" w="884301">
                  <a:moveTo>
                    <a:pt x="0" y="442087"/>
                  </a:moveTo>
                  <a:cubicBezTo>
                    <a:pt x="0" y="197993"/>
                    <a:pt x="197993" y="0"/>
                    <a:pt x="442087" y="0"/>
                  </a:cubicBezTo>
                  <a:cubicBezTo>
                    <a:pt x="686181" y="0"/>
                    <a:pt x="884301" y="197993"/>
                    <a:pt x="884301" y="442087"/>
                  </a:cubicBezTo>
                  <a:cubicBezTo>
                    <a:pt x="884301" y="686181"/>
                    <a:pt x="686308" y="884301"/>
                    <a:pt x="442087" y="884301"/>
                  </a:cubicBezTo>
                  <a:cubicBezTo>
                    <a:pt x="197866" y="884301"/>
                    <a:pt x="0" y="686308"/>
                    <a:pt x="0" y="442087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140118" y="2675484"/>
            <a:ext cx="26521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342" y="3470076"/>
            <a:ext cx="3086100" cy="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Deepen ML Knowledge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342" y="3900487"/>
            <a:ext cx="4331494" cy="7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Explore advanced machine learning algorithms and neural networks.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25430" y="2946052"/>
            <a:ext cx="4830813" cy="1987451"/>
            <a:chOff x="0" y="0"/>
            <a:chExt cx="6441083" cy="26499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41059" cy="2649982"/>
            </a:xfrm>
            <a:custGeom>
              <a:avLst/>
              <a:gdLst/>
              <a:ahLst/>
              <a:cxnLst/>
              <a:rect r="r" b="b" t="t" l="l"/>
              <a:pathLst>
                <a:path h="2649982" w="6441059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258179" y="0"/>
                  </a:lnTo>
                  <a:cubicBezTo>
                    <a:pt x="6359144" y="0"/>
                    <a:pt x="6441059" y="81915"/>
                    <a:pt x="6441059" y="182880"/>
                  </a:cubicBezTo>
                  <a:lnTo>
                    <a:pt x="6441059" y="2467102"/>
                  </a:lnTo>
                  <a:cubicBezTo>
                    <a:pt x="6441059" y="2568067"/>
                    <a:pt x="6359144" y="2649982"/>
                    <a:pt x="6258179" y="2649982"/>
                  </a:cubicBezTo>
                  <a:lnTo>
                    <a:pt x="182880" y="2649982"/>
                  </a:lnTo>
                  <a:cubicBezTo>
                    <a:pt x="81915" y="2649982"/>
                    <a:pt x="0" y="2568067"/>
                    <a:pt x="0" y="2467102"/>
                  </a:cubicBez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25430" y="2917478"/>
            <a:ext cx="4830813" cy="114300"/>
            <a:chOff x="0" y="0"/>
            <a:chExt cx="6441083" cy="15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41059" cy="152400"/>
            </a:xfrm>
            <a:custGeom>
              <a:avLst/>
              <a:gdLst/>
              <a:ahLst/>
              <a:cxnLst/>
              <a:rect r="r" b="b" t="t" l="l"/>
              <a:pathLst>
                <a:path h="152400" w="644105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364859" y="0"/>
                  </a:lnTo>
                  <a:cubicBezTo>
                    <a:pt x="6406896" y="0"/>
                    <a:pt x="6441059" y="34163"/>
                    <a:pt x="6441059" y="76200"/>
                  </a:cubicBezTo>
                  <a:cubicBezTo>
                    <a:pt x="6441059" y="118237"/>
                    <a:pt x="6406896" y="152400"/>
                    <a:pt x="6364859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909172" y="2614464"/>
            <a:ext cx="663179" cy="663179"/>
            <a:chOff x="0" y="0"/>
            <a:chExt cx="884238" cy="8842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4301" cy="884301"/>
            </a:xfrm>
            <a:custGeom>
              <a:avLst/>
              <a:gdLst/>
              <a:ahLst/>
              <a:cxnLst/>
              <a:rect r="r" b="b" t="t" l="l"/>
              <a:pathLst>
                <a:path h="884301" w="884301">
                  <a:moveTo>
                    <a:pt x="0" y="442087"/>
                  </a:moveTo>
                  <a:cubicBezTo>
                    <a:pt x="0" y="197993"/>
                    <a:pt x="197993" y="0"/>
                    <a:pt x="442087" y="0"/>
                  </a:cubicBezTo>
                  <a:cubicBezTo>
                    <a:pt x="686181" y="0"/>
                    <a:pt x="884301" y="197993"/>
                    <a:pt x="884301" y="442087"/>
                  </a:cubicBezTo>
                  <a:cubicBezTo>
                    <a:pt x="884301" y="686181"/>
                    <a:pt x="686308" y="884301"/>
                    <a:pt x="442087" y="884301"/>
                  </a:cubicBezTo>
                  <a:cubicBezTo>
                    <a:pt x="197866" y="884301"/>
                    <a:pt x="0" y="686308"/>
                    <a:pt x="0" y="442087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136035" y="2675484"/>
            <a:ext cx="26521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75015" y="3470076"/>
            <a:ext cx="3663106" cy="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Contribute to Open Source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75015" y="3900487"/>
            <a:ext cx="4331642" cy="78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Actively participate in open-source AI projects to gain practical experience.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73758" y="5486102"/>
            <a:ext cx="9882485" cy="1633835"/>
            <a:chOff x="0" y="0"/>
            <a:chExt cx="13176647" cy="21784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176631" cy="2178431"/>
            </a:xfrm>
            <a:custGeom>
              <a:avLst/>
              <a:gdLst/>
              <a:ahLst/>
              <a:cxnLst/>
              <a:rect r="r" b="b" t="t" l="l"/>
              <a:pathLst>
                <a:path h="2178431" w="13176631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993751" y="0"/>
                  </a:lnTo>
                  <a:cubicBezTo>
                    <a:pt x="13094715" y="0"/>
                    <a:pt x="13176631" y="81915"/>
                    <a:pt x="13176631" y="182880"/>
                  </a:cubicBezTo>
                  <a:lnTo>
                    <a:pt x="13176631" y="1995551"/>
                  </a:lnTo>
                  <a:cubicBezTo>
                    <a:pt x="13176631" y="2096516"/>
                    <a:pt x="13094715" y="2178431"/>
                    <a:pt x="12993751" y="2178431"/>
                  </a:cubicBezTo>
                  <a:lnTo>
                    <a:pt x="182880" y="2178431"/>
                  </a:lnTo>
                  <a:cubicBezTo>
                    <a:pt x="81915" y="2178431"/>
                    <a:pt x="0" y="2096516"/>
                    <a:pt x="0" y="1995551"/>
                  </a:cubicBezTo>
                  <a:close/>
                </a:path>
              </a:pathLst>
            </a:custGeom>
            <a:solidFill>
              <a:srgbClr val="05050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73758" y="5457527"/>
            <a:ext cx="9882485" cy="114300"/>
            <a:chOff x="0" y="0"/>
            <a:chExt cx="13176647" cy="152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76631" cy="152400"/>
            </a:xfrm>
            <a:custGeom>
              <a:avLst/>
              <a:gdLst/>
              <a:ahLst/>
              <a:cxnLst/>
              <a:rect r="r" b="b" t="t" l="l"/>
              <a:pathLst>
                <a:path h="152400" w="13176631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3100431" y="0"/>
                  </a:lnTo>
                  <a:cubicBezTo>
                    <a:pt x="13142469" y="0"/>
                    <a:pt x="13176631" y="34163"/>
                    <a:pt x="13176631" y="76200"/>
                  </a:cubicBezTo>
                  <a:cubicBezTo>
                    <a:pt x="13176631" y="118237"/>
                    <a:pt x="13142469" y="152400"/>
                    <a:pt x="13100431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383411" y="5154514"/>
            <a:ext cx="663179" cy="663179"/>
            <a:chOff x="0" y="0"/>
            <a:chExt cx="884238" cy="8842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4301" cy="884301"/>
            </a:xfrm>
            <a:custGeom>
              <a:avLst/>
              <a:gdLst/>
              <a:ahLst/>
              <a:cxnLst/>
              <a:rect r="r" b="b" t="t" l="l"/>
              <a:pathLst>
                <a:path h="884301" w="884301">
                  <a:moveTo>
                    <a:pt x="0" y="442087"/>
                  </a:moveTo>
                  <a:cubicBezTo>
                    <a:pt x="0" y="197993"/>
                    <a:pt x="197993" y="0"/>
                    <a:pt x="442087" y="0"/>
                  </a:cubicBezTo>
                  <a:cubicBezTo>
                    <a:pt x="686181" y="0"/>
                    <a:pt x="884301" y="197993"/>
                    <a:pt x="884301" y="442087"/>
                  </a:cubicBezTo>
                  <a:cubicBezTo>
                    <a:pt x="884301" y="686181"/>
                    <a:pt x="686308" y="884301"/>
                    <a:pt x="442087" y="884301"/>
                  </a:cubicBezTo>
                  <a:cubicBezTo>
                    <a:pt x="197866" y="884301"/>
                    <a:pt x="0" y="686308"/>
                    <a:pt x="0" y="442087"/>
                  </a:cubicBez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5596334" y="5215532"/>
            <a:ext cx="265211" cy="43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3342" y="6010126"/>
            <a:ext cx="3156794" cy="37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E5E0D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Specialized AI Domains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3342" y="6440537"/>
            <a:ext cx="9383316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Investigate areas like natural language processing (NLP) or computer vision.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5346" y="7652594"/>
            <a:ext cx="3316040" cy="46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F2F2F3"/>
                </a:solidFill>
                <a:latin typeface="Poppins Light"/>
                <a:ea typeface="Poppins Light"/>
                <a:cs typeface="Poppins Light"/>
                <a:sym typeface="Poppins Light"/>
              </a:rPr>
              <a:t>Let's Connect!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5346" y="8370094"/>
            <a:ext cx="9550896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Email: </a:t>
            </a:r>
            <a:r>
              <a:rPr lang="en-US" sz="1687" b="true">
                <a:solidFill>
                  <a:srgbClr val="E5E0DF"/>
                </a:solidFill>
                <a:latin typeface="Roboto Bold"/>
                <a:ea typeface="Roboto Bold"/>
                <a:cs typeface="Roboto Bold"/>
                <a:sym typeface="Roboto Bold"/>
              </a:rPr>
              <a:t>fernandoreyes.hcc@gmail.com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5346" y="8972401"/>
            <a:ext cx="9550896" cy="4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687">
                <a:solidFill>
                  <a:srgbClr val="E5E0DF"/>
                </a:solidFill>
                <a:latin typeface="Roboto"/>
                <a:ea typeface="Roboto"/>
                <a:cs typeface="Roboto"/>
                <a:sym typeface="Roboto"/>
              </a:rPr>
              <a:t>LinkedIn: </a:t>
            </a:r>
            <a:r>
              <a:rPr lang="en-US" sz="1687" u="sng">
                <a:solidFill>
                  <a:srgbClr val="F2F2F3"/>
                </a:solidFill>
                <a:latin typeface="Roboto"/>
                <a:ea typeface="Roboto"/>
                <a:cs typeface="Roboto"/>
                <a:sym typeface="Roboto"/>
                <a:hlinkClick r:id="rId3" tooltip="https://www.linkedin.com/in/fernando-reyes-488855398/"/>
              </a:rPr>
              <a:t>Fernando Reyes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73758" y="7368629"/>
            <a:ext cx="28575" cy="2282279"/>
            <a:chOff x="0" y="0"/>
            <a:chExt cx="38100" cy="30430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100" cy="3043047"/>
            </a:xfrm>
            <a:custGeom>
              <a:avLst/>
              <a:gdLst/>
              <a:ahLst/>
              <a:cxnLst/>
              <a:rect r="r" b="b" t="t" l="l"/>
              <a:pathLst>
                <a:path h="3043047" w="38100">
                  <a:moveTo>
                    <a:pt x="0" y="0"/>
                  </a:moveTo>
                  <a:lnTo>
                    <a:pt x="38100" y="0"/>
                  </a:lnTo>
                  <a:lnTo>
                    <a:pt x="38100" y="3043047"/>
                  </a:lnTo>
                  <a:lnTo>
                    <a:pt x="0" y="3043047"/>
                  </a:lnTo>
                  <a:close/>
                </a:path>
              </a:pathLst>
            </a:custGeom>
            <a:solidFill>
              <a:srgbClr val="F2F2F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1527574" y="2453271"/>
            <a:ext cx="6007717" cy="6133169"/>
            <a:chOff x="0" y="0"/>
            <a:chExt cx="8010290" cy="8177558"/>
          </a:xfrm>
        </p:grpSpPr>
        <p:sp>
          <p:nvSpPr>
            <p:cNvPr name="Freeform 41" id="41" descr="What Does AI Stand For? AI for Dummies - Will Hurd"/>
            <p:cNvSpPr/>
            <p:nvPr/>
          </p:nvSpPr>
          <p:spPr>
            <a:xfrm flipH="false" flipV="false" rot="0">
              <a:off x="0" y="0"/>
              <a:ext cx="8010271" cy="8177530"/>
            </a:xfrm>
            <a:custGeom>
              <a:avLst/>
              <a:gdLst/>
              <a:ahLst/>
              <a:cxnLst/>
              <a:rect r="r" b="b" t="t" l="l"/>
              <a:pathLst>
                <a:path h="8177530" w="8010271">
                  <a:moveTo>
                    <a:pt x="0" y="0"/>
                  </a:moveTo>
                  <a:lnTo>
                    <a:pt x="8010271" y="0"/>
                  </a:lnTo>
                  <a:lnTo>
                    <a:pt x="8010271" y="8177530"/>
                  </a:lnTo>
                  <a:lnTo>
                    <a:pt x="0" y="8177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4" t="0" r="-1044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DAG6x0pd-Wc</dc:identifier>
  <dcterms:modified xsi:type="dcterms:W3CDTF">2011-08-01T06:04:30Z</dcterms:modified>
  <cp:revision>1</cp:revision>
  <dc:title>AI Portfolio.pptx</dc:title>
</cp:coreProperties>
</file>